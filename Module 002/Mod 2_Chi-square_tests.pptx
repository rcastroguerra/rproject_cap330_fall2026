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9d92dc3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9d92dc3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4f6d5f3d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4f6d5f3d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4290778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4290778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1dc68ee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1dc68ee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e472db31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e472db31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e472db31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e472db31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e472db31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e472db31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e472db313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e472db313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e472db31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e472db31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8e472db313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8e472db313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4290778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e4290778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 residuals measure how far each observed count is from its expected count, in units of standard deviations. The standard deviation of a Poisson random variable associated to the observed count for each category, which equals the square root of the expected count.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5643f21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05643f21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5643f217c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05643f217c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05643f21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05643f21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5643f21e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05643f21e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05643f21e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05643f21e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5643f21e0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5643f21e0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05643f21e0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05643f21e0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e4290778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e4290778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e44003c3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e44003c3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e4290778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e4290778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047a1c6f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047a1c6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spss-tutorials.com/statistical-significanc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4294967295" type="subTitle"/>
          </p:nvPr>
        </p:nvSpPr>
        <p:spPr>
          <a:xfrm>
            <a:off x="843150" y="957525"/>
            <a:ext cx="74577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Module 2</a:t>
            </a:r>
            <a:r>
              <a:rPr lang="en"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Chi-square tests to analyze categorical data</a:t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895700" y="442775"/>
            <a:ext cx="7505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Topics</a:t>
            </a:r>
            <a:endParaRPr sz="3500"/>
          </a:p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595350" y="1373500"/>
            <a:ext cx="7740900" cy="14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Chi-square test for one categorical (or qualitative) variable.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Chi square test for two categorical (or qualitative) variables.</a:t>
            </a:r>
            <a:endParaRPr sz="30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95700" y="458950"/>
            <a:ext cx="7505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Qualitative or Categorical Variables</a:t>
            </a:r>
            <a:endParaRPr sz="3500"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515000" y="1291700"/>
            <a:ext cx="7953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00000"/>
                </a:solidFill>
              </a:rPr>
              <a:t>Variables whose values represent labels or categories, rather than numerical quantities.</a:t>
            </a:r>
            <a:endParaRPr sz="26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Examples:</a:t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Eye color</a:t>
            </a:r>
            <a:r>
              <a:rPr lang="en" sz="2400">
                <a:solidFill>
                  <a:srgbClr val="000000"/>
                </a:solidFill>
              </a:rPr>
              <a:t>: Black, Brown, Blue, and Green.</a:t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Nationality</a:t>
            </a:r>
            <a:r>
              <a:rPr lang="en" sz="2400">
                <a:solidFill>
                  <a:srgbClr val="000000"/>
                </a:solidFill>
              </a:rPr>
              <a:t>: US and Not US.</a:t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US Region</a:t>
            </a:r>
            <a:r>
              <a:rPr lang="en" sz="2400">
                <a:solidFill>
                  <a:srgbClr val="000000"/>
                </a:solidFill>
              </a:rPr>
              <a:t>: South, West, East, and North.</a:t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 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406150" y="406525"/>
            <a:ext cx="81720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Chi-square test for one qualitative variable (also known as </a:t>
            </a:r>
            <a:r>
              <a:rPr b="1" i="1" lang="en" sz="2200"/>
              <a:t>the chi-square goodness of fit test</a:t>
            </a:r>
            <a:r>
              <a:rPr lang="en" sz="2200"/>
              <a:t>) </a:t>
            </a:r>
            <a:endParaRPr b="1" sz="2200"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406150" y="1291700"/>
            <a:ext cx="80622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We have one </a:t>
            </a:r>
            <a:r>
              <a:rPr lang="en" sz="2100">
                <a:solidFill>
                  <a:srgbClr val="000000"/>
                </a:solidFill>
              </a:rPr>
              <a:t>categorical</a:t>
            </a:r>
            <a:r>
              <a:rPr lang="en" sz="2100">
                <a:solidFill>
                  <a:srgbClr val="000000"/>
                </a:solidFill>
              </a:rPr>
              <a:t> variable with K categories.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We want to make an inference about the probability (percentage) associated with each category.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We have an hypothesis about the possible values of these </a:t>
            </a:r>
            <a:r>
              <a:rPr lang="en" sz="2100">
                <a:solidFill>
                  <a:srgbClr val="000000"/>
                </a:solidFill>
              </a:rPr>
              <a:t>probabilities</a:t>
            </a:r>
            <a:r>
              <a:rPr lang="en" sz="2100">
                <a:solidFill>
                  <a:srgbClr val="000000"/>
                </a:solidFill>
              </a:rPr>
              <a:t>.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We want to find out if the data support our hypothesized probabilities.</a:t>
            </a:r>
            <a:endParaRPr sz="21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 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/>
          <p:cNvPicPr preferRelativeResize="0"/>
          <p:nvPr/>
        </p:nvPicPr>
        <p:blipFill rotWithShape="1">
          <a:blip r:embed="rId3">
            <a:alphaModFix/>
          </a:blip>
          <a:srcRect b="28770" l="13370" r="13450" t="3790"/>
          <a:stretch/>
        </p:blipFill>
        <p:spPr>
          <a:xfrm>
            <a:off x="832625" y="523750"/>
            <a:ext cx="7251927" cy="37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746550" y="497725"/>
            <a:ext cx="76509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Pearson residuals</a:t>
            </a:r>
            <a:endParaRPr b="1" sz="2600"/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542850" y="1142725"/>
            <a:ext cx="8058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When Ho is rejected and Ha is supported, the analyst usually wants to know </a:t>
            </a:r>
            <a:r>
              <a:rPr i="1" lang="en" sz="2500">
                <a:solidFill>
                  <a:srgbClr val="000000"/>
                </a:solidFill>
              </a:rPr>
              <a:t>what categories are farther away from the expected probabilities and in what direction</a:t>
            </a:r>
            <a:r>
              <a:rPr lang="en" sz="2500">
                <a:solidFill>
                  <a:srgbClr val="000000"/>
                </a:solidFill>
              </a:rPr>
              <a:t>. To do this, you can compute the </a:t>
            </a:r>
            <a:r>
              <a:rPr i="1" lang="en" sz="2500">
                <a:solidFill>
                  <a:srgbClr val="000000"/>
                </a:solidFill>
              </a:rPr>
              <a:t>Pearson residuals.</a:t>
            </a:r>
            <a:endParaRPr i="1" sz="25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Pearson residuals measure how far each observed count is from its expected count.</a:t>
            </a:r>
            <a:endParaRPr sz="22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 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636950" y="268150"/>
            <a:ext cx="7505700" cy="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Chi-square test for two qualitative variables (</a:t>
            </a:r>
            <a:r>
              <a:rPr b="1" i="1" lang="en" sz="2700"/>
              <a:t>chi-square test of independence</a:t>
            </a:r>
            <a:r>
              <a:rPr lang="en" sz="2700"/>
              <a:t>)</a:t>
            </a:r>
            <a:endParaRPr sz="2700"/>
          </a:p>
        </p:txBody>
      </p:sp>
      <p:pic>
        <p:nvPicPr>
          <p:cNvPr id="188" name="Google Shape;188;p24"/>
          <p:cNvPicPr preferRelativeResize="0"/>
          <p:nvPr/>
        </p:nvPicPr>
        <p:blipFill rotWithShape="1">
          <a:blip r:embed="rId3">
            <a:alphaModFix/>
          </a:blip>
          <a:srcRect b="6985" l="4818" r="9293" t="9668"/>
          <a:stretch/>
        </p:blipFill>
        <p:spPr>
          <a:xfrm>
            <a:off x="636950" y="1359450"/>
            <a:ext cx="7659924" cy="34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17394" l="0" r="11024" t="9645"/>
          <a:stretch/>
        </p:blipFill>
        <p:spPr>
          <a:xfrm>
            <a:off x="426225" y="320250"/>
            <a:ext cx="8038825" cy="429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6"/>
          <p:cNvPicPr preferRelativeResize="0"/>
          <p:nvPr/>
        </p:nvPicPr>
        <p:blipFill rotWithShape="1">
          <a:blip r:embed="rId3">
            <a:alphaModFix/>
          </a:blip>
          <a:srcRect b="18502" l="10402" r="12205" t="4344"/>
          <a:stretch/>
        </p:blipFill>
        <p:spPr>
          <a:xfrm>
            <a:off x="752050" y="537200"/>
            <a:ext cx="7454699" cy="381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7"/>
          <p:cNvPicPr preferRelativeResize="0"/>
          <p:nvPr/>
        </p:nvPicPr>
        <p:blipFill rotWithShape="1">
          <a:blip r:embed="rId3">
            <a:alphaModFix/>
          </a:blip>
          <a:srcRect b="12119" l="9776" r="12203" t="0"/>
          <a:stretch/>
        </p:blipFill>
        <p:spPr>
          <a:xfrm>
            <a:off x="1020650" y="367275"/>
            <a:ext cx="6714751" cy="42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/>
          <p:nvPr/>
        </p:nvSpPr>
        <p:spPr>
          <a:xfrm>
            <a:off x="4512300" y="886350"/>
            <a:ext cx="37467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DF = (# rows -1) * (# cols -1)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13225" l="12897" r="17354" t="0"/>
          <a:stretch/>
        </p:blipFill>
        <p:spPr>
          <a:xfrm>
            <a:off x="854925" y="472375"/>
            <a:ext cx="6601052" cy="41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9"/>
          <p:cNvPicPr preferRelativeResize="0"/>
          <p:nvPr/>
        </p:nvPicPr>
        <p:blipFill rotWithShape="1">
          <a:blip r:embed="rId3">
            <a:alphaModFix/>
          </a:blip>
          <a:srcRect b="17672" l="10715" r="7991" t="3508"/>
          <a:stretch/>
        </p:blipFill>
        <p:spPr>
          <a:xfrm>
            <a:off x="993775" y="530463"/>
            <a:ext cx="6996775" cy="38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575" y="436675"/>
            <a:ext cx="6396951" cy="1312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0"/>
          <p:cNvSpPr txBox="1"/>
          <p:nvPr/>
        </p:nvSpPr>
        <p:spPr>
          <a:xfrm>
            <a:off x="721175" y="1749250"/>
            <a:ext cx="76200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Similarly to the chi-square test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for one variable, here you can also compute Pearson residuals.</a:t>
            </a:r>
            <a:endParaRPr i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We usually look for the cells with the largest residuals in absolute value because these cells correspond to categories with strong dependency (which could be a negative or positive dependency depending on the sign).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734775" y="394650"/>
            <a:ext cx="74430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Chi-square test for two qualitative variables: </a:t>
            </a:r>
            <a:r>
              <a:rPr b="1" lang="en" sz="2200"/>
              <a:t>Practical significance.</a:t>
            </a:r>
            <a:endParaRPr b="1" sz="3500"/>
          </a:p>
        </p:txBody>
      </p:sp>
      <p:sp>
        <p:nvSpPr>
          <p:cNvPr id="226" name="Google Shape;226;p31"/>
          <p:cNvSpPr txBox="1"/>
          <p:nvPr>
            <p:ph idx="1" type="body"/>
          </p:nvPr>
        </p:nvSpPr>
        <p:spPr>
          <a:xfrm>
            <a:off x="585100" y="1227400"/>
            <a:ext cx="7592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Cramer’s V</a:t>
            </a:r>
            <a:endParaRPr b="1" sz="2400">
              <a:solidFill>
                <a:srgbClr val="000000"/>
              </a:solidFill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Cramér’s V is a number between 0 and 1 that indicates how strongly two categorical variables are associated.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Whereas a </a:t>
            </a:r>
            <a:r>
              <a:rPr lang="en" sz="16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p-value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close to zero means that the two variables have a statistically significant relationship (i.e., our variables are very unlikely to be completely unassociated), this does not mean the variables are strongly associated. For example, a weak association in a large sample size may also result in a p value very close to 0.</a:t>
            </a:r>
            <a:endParaRPr sz="30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 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11025" y="394650"/>
            <a:ext cx="77151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Chi-square test for two qualitative variables: </a:t>
            </a:r>
            <a:r>
              <a:rPr b="1" lang="en" sz="2200"/>
              <a:t>Practical significance.</a:t>
            </a:r>
            <a:endParaRPr b="1" sz="3500"/>
          </a:p>
        </p:txBody>
      </p:sp>
      <p:sp>
        <p:nvSpPr>
          <p:cNvPr id="232" name="Google Shape;232;p32"/>
          <p:cNvSpPr txBox="1"/>
          <p:nvPr>
            <p:ph idx="1" type="body"/>
          </p:nvPr>
        </p:nvSpPr>
        <p:spPr>
          <a:xfrm>
            <a:off x="450050" y="1130975"/>
            <a:ext cx="78762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Cramer’s V</a:t>
            </a:r>
            <a:endParaRPr b="1" sz="24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varies from 0 (= no association between the variables) to 1 (= complete association) and can reach 1 only when each variable is completely determined by the other. </a:t>
            </a:r>
            <a:endParaRPr sz="2500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 </a:t>
            </a:r>
            <a:endParaRPr sz="2300">
              <a:solidFill>
                <a:srgbClr val="000000"/>
              </a:solidFill>
            </a:endParaRPr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825" y="2844525"/>
            <a:ext cx="3086299" cy="13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 txBox="1"/>
          <p:nvPr/>
        </p:nvSpPr>
        <p:spPr>
          <a:xfrm>
            <a:off x="450050" y="2811725"/>
            <a:ext cx="4596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Naive and simplified criteria to interpret Cramer’s V: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C’s V &lt; 0.25, very weak association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0.25 &lt; = </a:t>
            </a:r>
            <a:r>
              <a:rPr lang="en"/>
              <a:t>C’s V &lt; 0.5 weak to moderate association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0.5 &lt; = C’s V &lt; 0.75 moderate to strong association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C’s V &gt;= 0.75 strong association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819150" y="295025"/>
            <a:ext cx="7505700" cy="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Validity assumptions for the chi-square </a:t>
            </a:r>
            <a:r>
              <a:rPr lang="en" sz="2700"/>
              <a:t>test for independence</a:t>
            </a:r>
            <a:endParaRPr sz="2800"/>
          </a:p>
        </p:txBody>
      </p:sp>
      <p:pic>
        <p:nvPicPr>
          <p:cNvPr id="240" name="Google Shape;2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63" y="1549150"/>
            <a:ext cx="8138276" cy="28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4294967295" type="subTitle"/>
          </p:nvPr>
        </p:nvSpPr>
        <p:spPr>
          <a:xfrm>
            <a:off x="843150" y="957525"/>
            <a:ext cx="74577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Module 2</a:t>
            </a:r>
            <a:r>
              <a:rPr lang="en"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Chi-square tests to analyze categorical data</a:t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